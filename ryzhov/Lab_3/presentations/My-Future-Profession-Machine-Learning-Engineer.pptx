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4630400" cy="8229600"/>
  <p:notesSz cx="8229600" cy="14630400"/>
  <p:embeddedFontLst>
    <p:embeddedFont>
      <p:font typeface="Patrick Hand"/>
      <p:regular r:id="rId18"/>
    </p:embeddedFont>
    <p:embeddedFont>
      <p:font typeface="Patrick Hand"/>
      <p:regular r:id="rId19"/>
    </p:embeddedFont>
    <p:embeddedFont>
      <p:font typeface="Patrick Hand"/>
      <p:regular r:id="rId20"/>
    </p:embeddedFont>
    <p:embeddedFont>
      <p:font typeface="Patrick Hand"/>
      <p:regular r:id="rId2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font" Target="fonts/font3.fntdata"/><Relationship Id="rId21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slideLayout" Target="../slideLayouts/slideLayout5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slideLayout" Target="../slideLayouts/slideLayout6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image" Target="../media/image-6-8.png"/><Relationship Id="rId9" Type="http://schemas.openxmlformats.org/officeDocument/2006/relationships/image" Target="../media/image-6-9.svg"/><Relationship Id="rId10" Type="http://schemas.openxmlformats.org/officeDocument/2006/relationships/slideLayout" Target="../slideLayouts/slideLayout7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slideLayout" Target="../slideLayouts/slideLayout9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slideLayout" Target="../slideLayouts/slideLayout10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pwc.com/gx/en/services/ai/ai-jobs-barometer.html" TargetMode="External"/><Relationship Id="rId2" Type="http://schemas.openxmlformats.org/officeDocument/2006/relationships/hyperlink" Target="https://www.mckinsey.com/capabilities/quantumblack/our-insights/the-state-of-ai" TargetMode="External"/><Relationship Id="rId3" Type="http://schemas.openxmlformats.org/officeDocument/2006/relationships/hyperlink" Target="https://www.coursera.org/specializations/machine-learning-introduction" TargetMode="External"/><Relationship Id="rId4" Type="http://schemas.openxmlformats.org/officeDocument/2006/relationships/hyperlink" Target="https://www.udacity.com/course/intro-to-machine-learning--ud120" TargetMode="External"/><Relationship Id="rId5" Type="http://schemas.openxmlformats.org/officeDocument/2006/relationships/hyperlink" Target="https://blog.google/outreach-initiatives/public-policy/ai-has-transformed-the-tech-industry/" TargetMode="External"/><Relationship Id="rId6" Type="http://schemas.openxmlformats.org/officeDocument/2006/relationships/hyperlink" Target="https://www.wired.com/story/microsoft-google-meta-2025-earnings/" TargetMode="External"/><Relationship Id="rId7" Type="http://schemas.openxmlformats.org/officeDocument/2006/relationships/slideLayout" Target="../slideLayouts/slideLayout12.xml"/><Relationship Id="rId8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3115032"/>
            <a:ext cx="7415927" cy="1234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My Future Profession: Machine Learning Engineer</a:t>
            </a:r>
            <a:endParaRPr lang="en-US" sz="3850" dirty="0"/>
          </a:p>
        </p:txBody>
      </p:sp>
      <p:sp>
        <p:nvSpPr>
          <p:cNvPr id="4" name="Text 1"/>
          <p:cNvSpPr/>
          <p:nvPr/>
        </p:nvSpPr>
        <p:spPr>
          <a:xfrm>
            <a:off x="6350437" y="4719518"/>
            <a:ext cx="74159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Created by Pavel Ryzhov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1432322"/>
            <a:ext cx="6653927" cy="617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What is a Machine Learning Engineer?</a:t>
            </a:r>
            <a:endParaRPr lang="en-US" sz="38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4037" y="2419707"/>
            <a:ext cx="617220" cy="6172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789867" y="2566273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AI System Specialists</a:t>
            </a:r>
            <a:endParaRPr lang="en-US" sz="1900" dirty="0"/>
          </a:p>
        </p:txBody>
      </p:sp>
      <p:sp>
        <p:nvSpPr>
          <p:cNvPr id="6" name="Text 2"/>
          <p:cNvSpPr/>
          <p:nvPr/>
        </p:nvSpPr>
        <p:spPr>
          <a:xfrm>
            <a:off x="1789867" y="3022997"/>
            <a:ext cx="649009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Design, build, and enhance AI systems that learn from data.</a:t>
            </a:r>
            <a:endParaRPr lang="en-US" sz="19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4037" y="3911798"/>
            <a:ext cx="617220" cy="6172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789867" y="4058364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Bridging Disciplines</a:t>
            </a:r>
            <a:endParaRPr lang="en-US" sz="1900" dirty="0"/>
          </a:p>
        </p:txBody>
      </p:sp>
      <p:sp>
        <p:nvSpPr>
          <p:cNvPr id="9" name="Text 4"/>
          <p:cNvSpPr/>
          <p:nvPr/>
        </p:nvSpPr>
        <p:spPr>
          <a:xfrm>
            <a:off x="1789867" y="4515088"/>
            <a:ext cx="649009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Connect data science with software engineering for intelligent applications.</a:t>
            </a:r>
            <a:endParaRPr lang="en-US" sz="19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4037" y="5798939"/>
            <a:ext cx="617220" cy="6172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789867" y="5945505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Innovative Solutions</a:t>
            </a:r>
            <a:endParaRPr lang="en-US" sz="1900" dirty="0"/>
          </a:p>
        </p:txBody>
      </p:sp>
      <p:sp>
        <p:nvSpPr>
          <p:cNvPr id="12" name="Text 6"/>
          <p:cNvSpPr/>
          <p:nvPr/>
        </p:nvSpPr>
        <p:spPr>
          <a:xfrm>
            <a:off x="1789867" y="6402229"/>
            <a:ext cx="649009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Work on predictive models, automation, and AI-powered solutions.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720215"/>
            <a:ext cx="10978158" cy="617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Why Machine Learning Engineering is the Career of Tomorrow</a:t>
            </a:r>
            <a:endParaRPr lang="en-US" sz="3850" dirty="0"/>
          </a:p>
        </p:txBody>
      </p:sp>
      <p:sp>
        <p:nvSpPr>
          <p:cNvPr id="3" name="Shape 1"/>
          <p:cNvSpPr/>
          <p:nvPr/>
        </p:nvSpPr>
        <p:spPr>
          <a:xfrm>
            <a:off x="864037" y="2954417"/>
            <a:ext cx="5635109" cy="308610"/>
          </a:xfrm>
          <a:prstGeom prst="roundRect">
            <a:avLst>
              <a:gd name="adj" fmla="val 33600"/>
            </a:avLst>
          </a:prstGeom>
          <a:solidFill>
            <a:srgbClr val="E6E6E6"/>
          </a:solidFill>
          <a:ln w="15240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4037" y="2954417"/>
            <a:ext cx="4620697" cy="308610"/>
          </a:xfrm>
          <a:prstGeom prst="roundRect">
            <a:avLst>
              <a:gd name="adj" fmla="val 33600"/>
            </a:avLst>
          </a:prstGeom>
          <a:solidFill>
            <a:srgbClr val="CCCCCC"/>
          </a:solidFill>
          <a:ln/>
        </p:spPr>
      </p:sp>
      <p:sp>
        <p:nvSpPr>
          <p:cNvPr id="5" name="Text 3"/>
          <p:cNvSpPr/>
          <p:nvPr/>
        </p:nvSpPr>
        <p:spPr>
          <a:xfrm>
            <a:off x="6684288" y="2954417"/>
            <a:ext cx="476607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82%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64037" y="3571518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Role Growth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64037" y="4028242"/>
            <a:ext cx="6296858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Expected increase in AI/ML roles globally (2025-2030).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469505" y="2954417"/>
            <a:ext cx="5644753" cy="308610"/>
          </a:xfrm>
          <a:prstGeom prst="roundRect">
            <a:avLst>
              <a:gd name="adj" fmla="val 33600"/>
            </a:avLst>
          </a:prstGeom>
          <a:solidFill>
            <a:srgbClr val="E6E6E6"/>
          </a:solidFill>
          <a:ln w="15240">
            <a:solidFill>
              <a:srgbClr val="CCCC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69505" y="2954417"/>
            <a:ext cx="4177070" cy="308610"/>
          </a:xfrm>
          <a:prstGeom prst="roundRect">
            <a:avLst>
              <a:gd name="adj" fmla="val 33600"/>
            </a:avLst>
          </a:prstGeom>
          <a:solidFill>
            <a:srgbClr val="CCCCCC"/>
          </a:solidFill>
          <a:ln/>
        </p:spPr>
      </p:sp>
      <p:sp>
        <p:nvSpPr>
          <p:cNvPr id="10" name="Text 8"/>
          <p:cNvSpPr/>
          <p:nvPr/>
        </p:nvSpPr>
        <p:spPr>
          <a:xfrm>
            <a:off x="13299400" y="2954417"/>
            <a:ext cx="466963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74%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469505" y="3571518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Hiring Surge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469505" y="4028242"/>
            <a:ext cx="6296858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Annual growth in ML engineer hiring.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864037" y="5040392"/>
            <a:ext cx="5667851" cy="308610"/>
          </a:xfrm>
          <a:prstGeom prst="roundRect">
            <a:avLst>
              <a:gd name="adj" fmla="val 33600"/>
            </a:avLst>
          </a:prstGeom>
          <a:solidFill>
            <a:srgbClr val="E6E6E6"/>
          </a:solidFill>
          <a:ln w="15240">
            <a:solidFill>
              <a:srgbClr val="CCCC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4037" y="5040392"/>
            <a:ext cx="56674" cy="308610"/>
          </a:xfrm>
          <a:prstGeom prst="roundRect">
            <a:avLst>
              <a:gd name="adj" fmla="val 182964"/>
            </a:avLst>
          </a:prstGeom>
          <a:solidFill>
            <a:srgbClr val="CCCCCC"/>
          </a:solidFill>
          <a:ln/>
        </p:spPr>
      </p:sp>
      <p:sp>
        <p:nvSpPr>
          <p:cNvPr id="15" name="Text 13"/>
          <p:cNvSpPr/>
          <p:nvPr/>
        </p:nvSpPr>
        <p:spPr>
          <a:xfrm>
            <a:off x="6717030" y="5040392"/>
            <a:ext cx="443865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1M+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64037" y="5657493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Professionals Needed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64037" y="6114217"/>
            <a:ext cx="6296858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AI professionals projected for India by 2030.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7469505" y="5040392"/>
            <a:ext cx="5568196" cy="308610"/>
          </a:xfrm>
          <a:prstGeom prst="roundRect">
            <a:avLst>
              <a:gd name="adj" fmla="val 33600"/>
            </a:avLst>
          </a:prstGeom>
          <a:solidFill>
            <a:srgbClr val="E6E6E6"/>
          </a:solidFill>
          <a:ln w="15240">
            <a:solidFill>
              <a:srgbClr val="CCCC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69505" y="5040392"/>
            <a:ext cx="835223" cy="308610"/>
          </a:xfrm>
          <a:prstGeom prst="roundRect">
            <a:avLst>
              <a:gd name="adj" fmla="val 33600"/>
            </a:avLst>
          </a:prstGeom>
          <a:solidFill>
            <a:srgbClr val="CCCCCC"/>
          </a:solidFill>
          <a:ln/>
        </p:spPr>
      </p:sp>
      <p:sp>
        <p:nvSpPr>
          <p:cNvPr id="20" name="Text 18"/>
          <p:cNvSpPr/>
          <p:nvPr/>
        </p:nvSpPr>
        <p:spPr>
          <a:xfrm>
            <a:off x="13222843" y="5040392"/>
            <a:ext cx="54352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$15T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469505" y="5657493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Economic Impact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7469505" y="6114217"/>
            <a:ext cx="6296858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Projected addition to global economy by 2030.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7606" y="665917"/>
            <a:ext cx="7667744" cy="605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50"/>
              </a:lnSpc>
              <a:buNone/>
            </a:pPr>
            <a:r>
              <a:rPr lang="en-US" sz="38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Industries Driving Demand for ML Engineers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847606" y="2118955"/>
            <a:ext cx="4150281" cy="2657594"/>
          </a:xfrm>
          <a:prstGeom prst="roundRect">
            <a:avLst>
              <a:gd name="adj" fmla="val 5505"/>
            </a:avLst>
          </a:prstGeom>
          <a:solidFill>
            <a:srgbClr val="F7F7F7"/>
          </a:solidFill>
          <a:ln/>
        </p:spPr>
      </p:sp>
      <p:sp>
        <p:nvSpPr>
          <p:cNvPr id="4" name="Shape 2"/>
          <p:cNvSpPr/>
          <p:nvPr/>
        </p:nvSpPr>
        <p:spPr>
          <a:xfrm>
            <a:off x="847606" y="2088475"/>
            <a:ext cx="4150281" cy="121920"/>
          </a:xfrm>
          <a:prstGeom prst="roundRect">
            <a:avLst>
              <a:gd name="adj" fmla="val 83428"/>
            </a:avLst>
          </a:prstGeom>
          <a:solidFill>
            <a:srgbClr val="CCCCCC"/>
          </a:solidFill>
          <a:ln/>
        </p:spPr>
      </p:sp>
      <p:sp>
        <p:nvSpPr>
          <p:cNvPr id="5" name="Shape 3"/>
          <p:cNvSpPr/>
          <p:nvPr/>
        </p:nvSpPr>
        <p:spPr>
          <a:xfrm>
            <a:off x="2559487" y="1755696"/>
            <a:ext cx="726519" cy="726519"/>
          </a:xfrm>
          <a:prstGeom prst="roundRect">
            <a:avLst>
              <a:gd name="adj" fmla="val 125860"/>
            </a:avLst>
          </a:prstGeom>
          <a:solidFill>
            <a:srgbClr val="CCCCC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77490" y="1973580"/>
            <a:ext cx="290513" cy="29051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20259" y="2724388"/>
            <a:ext cx="2421731" cy="302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Healthcare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120259" y="3172301"/>
            <a:ext cx="3604974" cy="387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50"/>
              </a:lnSpc>
              <a:buSzPct val="100000"/>
              <a:buChar char="•"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AI diagnostics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120259" y="3644384"/>
            <a:ext cx="3604974" cy="387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50"/>
              </a:lnSpc>
              <a:buSzPct val="100000"/>
              <a:buChar char="•"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Personalised medicine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1120259" y="4116467"/>
            <a:ext cx="3604974" cy="387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50"/>
              </a:lnSpc>
              <a:buSzPct val="100000"/>
              <a:buChar char="•"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Drug discovery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5240060" y="2118955"/>
            <a:ext cx="4150281" cy="2657594"/>
          </a:xfrm>
          <a:prstGeom prst="roundRect">
            <a:avLst>
              <a:gd name="adj" fmla="val 5505"/>
            </a:avLst>
          </a:prstGeom>
          <a:solidFill>
            <a:srgbClr val="F7F7F7"/>
          </a:solidFill>
          <a:ln/>
        </p:spPr>
      </p:sp>
      <p:sp>
        <p:nvSpPr>
          <p:cNvPr id="12" name="Shape 9"/>
          <p:cNvSpPr/>
          <p:nvPr/>
        </p:nvSpPr>
        <p:spPr>
          <a:xfrm>
            <a:off x="5240060" y="2088475"/>
            <a:ext cx="4150281" cy="121920"/>
          </a:xfrm>
          <a:prstGeom prst="roundRect">
            <a:avLst>
              <a:gd name="adj" fmla="val 83428"/>
            </a:avLst>
          </a:prstGeom>
          <a:solidFill>
            <a:srgbClr val="CCCCCC"/>
          </a:solidFill>
          <a:ln/>
        </p:spPr>
      </p:sp>
      <p:sp>
        <p:nvSpPr>
          <p:cNvPr id="13" name="Shape 10"/>
          <p:cNvSpPr/>
          <p:nvPr/>
        </p:nvSpPr>
        <p:spPr>
          <a:xfrm>
            <a:off x="6951940" y="1755696"/>
            <a:ext cx="726519" cy="726519"/>
          </a:xfrm>
          <a:prstGeom prst="roundRect">
            <a:avLst>
              <a:gd name="adj" fmla="val 125860"/>
            </a:avLst>
          </a:prstGeom>
          <a:solidFill>
            <a:srgbClr val="CCCCCC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69944" y="1973580"/>
            <a:ext cx="290513" cy="29051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512713" y="2724388"/>
            <a:ext cx="2421731" cy="302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Finance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5512713" y="3172301"/>
            <a:ext cx="3604974" cy="387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50"/>
              </a:lnSpc>
              <a:buSzPct val="100000"/>
              <a:buChar char="•"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Fraud detection</a:t>
            </a:r>
            <a:endParaRPr lang="en-US" sz="1900" dirty="0"/>
          </a:p>
        </p:txBody>
      </p:sp>
      <p:sp>
        <p:nvSpPr>
          <p:cNvPr id="17" name="Text 13"/>
          <p:cNvSpPr/>
          <p:nvPr/>
        </p:nvSpPr>
        <p:spPr>
          <a:xfrm>
            <a:off x="5512713" y="3644384"/>
            <a:ext cx="3604974" cy="387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50"/>
              </a:lnSpc>
              <a:buSzPct val="100000"/>
              <a:buChar char="•"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Algorithmic trading</a:t>
            </a:r>
            <a:endParaRPr lang="en-US" sz="1900" dirty="0"/>
          </a:p>
        </p:txBody>
      </p:sp>
      <p:sp>
        <p:nvSpPr>
          <p:cNvPr id="18" name="Text 14"/>
          <p:cNvSpPr/>
          <p:nvPr/>
        </p:nvSpPr>
        <p:spPr>
          <a:xfrm>
            <a:off x="5512713" y="4116467"/>
            <a:ext cx="3604974" cy="387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50"/>
              </a:lnSpc>
              <a:buSzPct val="100000"/>
              <a:buChar char="•"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Risk assessment</a:t>
            </a:r>
            <a:endParaRPr lang="en-US" sz="1900" dirty="0"/>
          </a:p>
        </p:txBody>
      </p:sp>
      <p:sp>
        <p:nvSpPr>
          <p:cNvPr id="19" name="Shape 15"/>
          <p:cNvSpPr/>
          <p:nvPr/>
        </p:nvSpPr>
        <p:spPr>
          <a:xfrm>
            <a:off x="9632513" y="2118955"/>
            <a:ext cx="4150281" cy="2657594"/>
          </a:xfrm>
          <a:prstGeom prst="roundRect">
            <a:avLst>
              <a:gd name="adj" fmla="val 5505"/>
            </a:avLst>
          </a:prstGeom>
          <a:solidFill>
            <a:srgbClr val="F7F7F7"/>
          </a:solidFill>
          <a:ln/>
        </p:spPr>
      </p:sp>
      <p:sp>
        <p:nvSpPr>
          <p:cNvPr id="20" name="Shape 16"/>
          <p:cNvSpPr/>
          <p:nvPr/>
        </p:nvSpPr>
        <p:spPr>
          <a:xfrm>
            <a:off x="9632513" y="2088475"/>
            <a:ext cx="4150281" cy="121920"/>
          </a:xfrm>
          <a:prstGeom prst="roundRect">
            <a:avLst>
              <a:gd name="adj" fmla="val 83428"/>
            </a:avLst>
          </a:prstGeom>
          <a:solidFill>
            <a:srgbClr val="CCCCCC"/>
          </a:solidFill>
          <a:ln/>
        </p:spPr>
      </p:sp>
      <p:sp>
        <p:nvSpPr>
          <p:cNvPr id="21" name="Shape 17"/>
          <p:cNvSpPr/>
          <p:nvPr/>
        </p:nvSpPr>
        <p:spPr>
          <a:xfrm>
            <a:off x="11344394" y="1755696"/>
            <a:ext cx="726519" cy="726519"/>
          </a:xfrm>
          <a:prstGeom prst="roundRect">
            <a:avLst>
              <a:gd name="adj" fmla="val 125860"/>
            </a:avLst>
          </a:prstGeom>
          <a:solidFill>
            <a:srgbClr val="CCCCCC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62398" y="1973580"/>
            <a:ext cx="290513" cy="290513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905167" y="2724388"/>
            <a:ext cx="2421731" cy="302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Retail</a:t>
            </a:r>
            <a:endParaRPr lang="en-US" sz="1900" dirty="0"/>
          </a:p>
        </p:txBody>
      </p:sp>
      <p:sp>
        <p:nvSpPr>
          <p:cNvPr id="24" name="Text 19"/>
          <p:cNvSpPr/>
          <p:nvPr/>
        </p:nvSpPr>
        <p:spPr>
          <a:xfrm>
            <a:off x="9905167" y="3172301"/>
            <a:ext cx="3604974" cy="387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50"/>
              </a:lnSpc>
              <a:buSzPct val="100000"/>
              <a:buChar char="•"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Customer behaviour</a:t>
            </a:r>
            <a:endParaRPr lang="en-US" sz="1900" dirty="0"/>
          </a:p>
        </p:txBody>
      </p:sp>
      <p:sp>
        <p:nvSpPr>
          <p:cNvPr id="25" name="Text 20"/>
          <p:cNvSpPr/>
          <p:nvPr/>
        </p:nvSpPr>
        <p:spPr>
          <a:xfrm>
            <a:off x="9905167" y="3644384"/>
            <a:ext cx="3604974" cy="387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50"/>
              </a:lnSpc>
              <a:buSzPct val="100000"/>
              <a:buChar char="•"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Inventory optimisation</a:t>
            </a:r>
            <a:endParaRPr lang="en-US" sz="1900" dirty="0"/>
          </a:p>
        </p:txBody>
      </p:sp>
      <p:sp>
        <p:nvSpPr>
          <p:cNvPr id="26" name="Shape 21"/>
          <p:cNvSpPr/>
          <p:nvPr/>
        </p:nvSpPr>
        <p:spPr>
          <a:xfrm>
            <a:off x="847606" y="5381982"/>
            <a:ext cx="6346508" cy="2185511"/>
          </a:xfrm>
          <a:prstGeom prst="roundRect">
            <a:avLst>
              <a:gd name="adj" fmla="val 6694"/>
            </a:avLst>
          </a:prstGeom>
          <a:solidFill>
            <a:srgbClr val="F7F7F7"/>
          </a:solidFill>
          <a:ln/>
        </p:spPr>
      </p:sp>
      <p:sp>
        <p:nvSpPr>
          <p:cNvPr id="27" name="Shape 22"/>
          <p:cNvSpPr/>
          <p:nvPr/>
        </p:nvSpPr>
        <p:spPr>
          <a:xfrm>
            <a:off x="847606" y="5351502"/>
            <a:ext cx="6346508" cy="121920"/>
          </a:xfrm>
          <a:prstGeom prst="roundRect">
            <a:avLst>
              <a:gd name="adj" fmla="val 83428"/>
            </a:avLst>
          </a:prstGeom>
          <a:solidFill>
            <a:srgbClr val="CCCCCC"/>
          </a:solidFill>
          <a:ln/>
        </p:spPr>
      </p:sp>
      <p:sp>
        <p:nvSpPr>
          <p:cNvPr id="28" name="Shape 23"/>
          <p:cNvSpPr/>
          <p:nvPr/>
        </p:nvSpPr>
        <p:spPr>
          <a:xfrm>
            <a:off x="3657600" y="5018723"/>
            <a:ext cx="726519" cy="726519"/>
          </a:xfrm>
          <a:prstGeom prst="roundRect">
            <a:avLst>
              <a:gd name="adj" fmla="val 125860"/>
            </a:avLst>
          </a:prstGeom>
          <a:solidFill>
            <a:srgbClr val="CCCCCC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75603" y="5236607"/>
            <a:ext cx="290513" cy="290513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120259" y="5987415"/>
            <a:ext cx="2421731" cy="302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Logistics</a:t>
            </a:r>
            <a:endParaRPr lang="en-US" sz="1900" dirty="0"/>
          </a:p>
        </p:txBody>
      </p:sp>
      <p:sp>
        <p:nvSpPr>
          <p:cNvPr id="31" name="Text 25"/>
          <p:cNvSpPr/>
          <p:nvPr/>
        </p:nvSpPr>
        <p:spPr>
          <a:xfrm>
            <a:off x="1120259" y="6435328"/>
            <a:ext cx="5801201" cy="387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50"/>
              </a:lnSpc>
              <a:buSzPct val="100000"/>
              <a:buChar char="•"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Route optimisation</a:t>
            </a:r>
            <a:endParaRPr lang="en-US" sz="1900" dirty="0"/>
          </a:p>
        </p:txBody>
      </p:sp>
      <p:sp>
        <p:nvSpPr>
          <p:cNvPr id="32" name="Text 26"/>
          <p:cNvSpPr/>
          <p:nvPr/>
        </p:nvSpPr>
        <p:spPr>
          <a:xfrm>
            <a:off x="1120259" y="6907411"/>
            <a:ext cx="5801201" cy="387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50"/>
              </a:lnSpc>
              <a:buSzPct val="100000"/>
              <a:buChar char="•"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Supply chain automation</a:t>
            </a:r>
            <a:endParaRPr lang="en-US" sz="1900" dirty="0"/>
          </a:p>
        </p:txBody>
      </p:sp>
      <p:sp>
        <p:nvSpPr>
          <p:cNvPr id="33" name="Shape 27"/>
          <p:cNvSpPr/>
          <p:nvPr/>
        </p:nvSpPr>
        <p:spPr>
          <a:xfrm>
            <a:off x="7436287" y="5381982"/>
            <a:ext cx="6346508" cy="2185511"/>
          </a:xfrm>
          <a:prstGeom prst="roundRect">
            <a:avLst>
              <a:gd name="adj" fmla="val 6694"/>
            </a:avLst>
          </a:prstGeom>
          <a:solidFill>
            <a:srgbClr val="F7F7F7"/>
          </a:solidFill>
          <a:ln/>
        </p:spPr>
      </p:sp>
      <p:sp>
        <p:nvSpPr>
          <p:cNvPr id="34" name="Shape 28"/>
          <p:cNvSpPr/>
          <p:nvPr/>
        </p:nvSpPr>
        <p:spPr>
          <a:xfrm>
            <a:off x="7436287" y="5351502"/>
            <a:ext cx="6346508" cy="121920"/>
          </a:xfrm>
          <a:prstGeom prst="roundRect">
            <a:avLst>
              <a:gd name="adj" fmla="val 83428"/>
            </a:avLst>
          </a:prstGeom>
          <a:solidFill>
            <a:srgbClr val="CCCCCC"/>
          </a:solidFill>
          <a:ln/>
        </p:spPr>
      </p:sp>
      <p:sp>
        <p:nvSpPr>
          <p:cNvPr id="35" name="Shape 29"/>
          <p:cNvSpPr/>
          <p:nvPr/>
        </p:nvSpPr>
        <p:spPr>
          <a:xfrm>
            <a:off x="10246281" y="5018723"/>
            <a:ext cx="726519" cy="726519"/>
          </a:xfrm>
          <a:prstGeom prst="roundRect">
            <a:avLst>
              <a:gd name="adj" fmla="val 125860"/>
            </a:avLst>
          </a:prstGeom>
          <a:solidFill>
            <a:srgbClr val="CCCCCC"/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64284" y="5236607"/>
            <a:ext cx="290513" cy="290513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7708940" y="5987415"/>
            <a:ext cx="2421731" cy="302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Manufacturing &amp; Transport</a:t>
            </a:r>
            <a:endParaRPr lang="en-US" sz="1900" dirty="0"/>
          </a:p>
        </p:txBody>
      </p:sp>
      <p:sp>
        <p:nvSpPr>
          <p:cNvPr id="38" name="Text 31"/>
          <p:cNvSpPr/>
          <p:nvPr/>
        </p:nvSpPr>
        <p:spPr>
          <a:xfrm>
            <a:off x="7708940" y="6435328"/>
            <a:ext cx="5801201" cy="387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50"/>
              </a:lnSpc>
              <a:buSzPct val="100000"/>
              <a:buChar char="•"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Predictive maintenance</a:t>
            </a:r>
            <a:endParaRPr lang="en-US" sz="1900" dirty="0"/>
          </a:p>
        </p:txBody>
      </p:sp>
      <p:sp>
        <p:nvSpPr>
          <p:cNvPr id="39" name="Text 32"/>
          <p:cNvSpPr/>
          <p:nvPr/>
        </p:nvSpPr>
        <p:spPr>
          <a:xfrm>
            <a:off x="7708940" y="6907411"/>
            <a:ext cx="5801201" cy="387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50"/>
              </a:lnSpc>
              <a:buSzPct val="100000"/>
              <a:buChar char="•"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Autonomous vehicles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4979" y="514469"/>
            <a:ext cx="6906935" cy="467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50"/>
              </a:lnSpc>
              <a:buNone/>
            </a:pPr>
            <a:r>
              <a:rPr lang="en-US" sz="2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Core Skills to Become a Machine Learning Engineer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784979" y="1356360"/>
            <a:ext cx="748427" cy="1122640"/>
          </a:xfrm>
          <a:prstGeom prst="roundRect">
            <a:avLst>
              <a:gd name="adj" fmla="val 360016"/>
            </a:avLst>
          </a:prstGeom>
          <a:solidFill>
            <a:srgbClr val="E6E6E6"/>
          </a:solidFill>
          <a:ln w="7620">
            <a:solidFill>
              <a:srgbClr val="CCCCC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8818" y="1777246"/>
            <a:ext cx="280630" cy="2806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20453" y="1543407"/>
            <a:ext cx="1871067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Programming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1720453" y="1889522"/>
            <a:ext cx="12124849" cy="299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Python, Rust, R, SQL expertise.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784979" y="2666048"/>
            <a:ext cx="748427" cy="1122640"/>
          </a:xfrm>
          <a:prstGeom prst="roundRect">
            <a:avLst>
              <a:gd name="adj" fmla="val 360016"/>
            </a:avLst>
          </a:prstGeom>
          <a:solidFill>
            <a:srgbClr val="E6E6E6"/>
          </a:solidFill>
          <a:ln w="7620">
            <a:solidFill>
              <a:srgbClr val="CCCCCC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8818" y="3086933"/>
            <a:ext cx="280630" cy="2806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720453" y="2853095"/>
            <a:ext cx="1871067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ML Algorithms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1720453" y="3199209"/>
            <a:ext cx="12124849" cy="299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Supervised, unsupervised, deep learning, reinforcement learning.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784979" y="3975735"/>
            <a:ext cx="748427" cy="1122640"/>
          </a:xfrm>
          <a:prstGeom prst="roundRect">
            <a:avLst>
              <a:gd name="adj" fmla="val 360016"/>
            </a:avLst>
          </a:prstGeom>
          <a:solidFill>
            <a:srgbClr val="E6E6E6"/>
          </a:solidFill>
          <a:ln w="7620">
            <a:solidFill>
              <a:srgbClr val="CCCCCC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8818" y="4396621"/>
            <a:ext cx="280630" cy="28063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20453" y="4162782"/>
            <a:ext cx="1871067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Data Handling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1720453" y="4508897"/>
            <a:ext cx="12124849" cy="299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Preprocessing, feature engineering, statistical analysis.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784979" y="5285423"/>
            <a:ext cx="748427" cy="1122640"/>
          </a:xfrm>
          <a:prstGeom prst="roundRect">
            <a:avLst>
              <a:gd name="adj" fmla="val 360016"/>
            </a:avLst>
          </a:prstGeom>
          <a:solidFill>
            <a:srgbClr val="E6E6E6"/>
          </a:solidFill>
          <a:ln w="7620">
            <a:solidFill>
              <a:srgbClr val="CCCCCC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8818" y="5706308"/>
            <a:ext cx="280630" cy="28063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720453" y="5472470"/>
            <a:ext cx="1871067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Cloud Platforms</a:t>
            </a:r>
            <a:endParaRPr lang="en-US" sz="1450" dirty="0"/>
          </a:p>
        </p:txBody>
      </p:sp>
      <p:sp>
        <p:nvSpPr>
          <p:cNvPr id="18" name="Text 12"/>
          <p:cNvSpPr/>
          <p:nvPr/>
        </p:nvSpPr>
        <p:spPr>
          <a:xfrm>
            <a:off x="1720453" y="5818584"/>
            <a:ext cx="12124849" cy="299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Google Cloud, AWS, Azure for scalable AI.</a:t>
            </a:r>
            <a:endParaRPr lang="en-US" sz="1450" dirty="0"/>
          </a:p>
        </p:txBody>
      </p:sp>
      <p:sp>
        <p:nvSpPr>
          <p:cNvPr id="19" name="Shape 13"/>
          <p:cNvSpPr/>
          <p:nvPr/>
        </p:nvSpPr>
        <p:spPr>
          <a:xfrm>
            <a:off x="784979" y="6595110"/>
            <a:ext cx="748427" cy="1122640"/>
          </a:xfrm>
          <a:prstGeom prst="roundRect">
            <a:avLst>
              <a:gd name="adj" fmla="val 360016"/>
            </a:avLst>
          </a:prstGeom>
          <a:solidFill>
            <a:srgbClr val="E6E6E6"/>
          </a:solidFill>
          <a:ln w="7620">
            <a:solidFill>
              <a:srgbClr val="CCCCCC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8818" y="7015996"/>
            <a:ext cx="280630" cy="28063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720453" y="6782157"/>
            <a:ext cx="1871067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Soft Skills</a:t>
            </a:r>
            <a:endParaRPr lang="en-US" sz="1450" dirty="0"/>
          </a:p>
        </p:txBody>
      </p:sp>
      <p:sp>
        <p:nvSpPr>
          <p:cNvPr id="22" name="Text 15"/>
          <p:cNvSpPr/>
          <p:nvPr/>
        </p:nvSpPr>
        <p:spPr>
          <a:xfrm>
            <a:off x="1720453" y="7128272"/>
            <a:ext cx="12124849" cy="299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Communication, problem-solving, teamwork, ethical AI.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8789" y="621387"/>
            <a:ext cx="4990981" cy="563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Education &amp; Learning Pathways</a:t>
            </a:r>
            <a:endParaRPr lang="en-US" sz="3500" dirty="0"/>
          </a:p>
        </p:txBody>
      </p:sp>
      <p:sp>
        <p:nvSpPr>
          <p:cNvPr id="4" name="Shape 1"/>
          <p:cNvSpPr/>
          <p:nvPr/>
        </p:nvSpPr>
        <p:spPr>
          <a:xfrm>
            <a:off x="1014174" y="1860828"/>
            <a:ext cx="225385" cy="1014174"/>
          </a:xfrm>
          <a:prstGeom prst="roundRect">
            <a:avLst>
              <a:gd name="adj" fmla="val 42002"/>
            </a:avLst>
          </a:prstGeom>
          <a:solidFill>
            <a:srgbClr val="E6E6E6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88789" y="1712952"/>
            <a:ext cx="676156" cy="676156"/>
          </a:xfrm>
          <a:prstGeom prst="roundRect">
            <a:avLst>
              <a:gd name="adj" fmla="val 67618"/>
            </a:avLst>
          </a:prstGeom>
          <a:solidFill>
            <a:srgbClr val="E6E6E6"/>
          </a:solidFill>
          <a:ln w="7620">
            <a:solidFill>
              <a:srgbClr val="CCCCCC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7858" y="1882021"/>
            <a:ext cx="338018" cy="33801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690330" y="1748195"/>
            <a:ext cx="2253853" cy="281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Academic Degrees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1690330" y="2165033"/>
            <a:ext cx="6664881" cy="360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Bachelor's in Computer Science, AI, or related fields.</a:t>
            </a:r>
            <a:endParaRPr lang="en-US" sz="1750" dirty="0"/>
          </a:p>
        </p:txBody>
      </p:sp>
      <p:sp>
        <p:nvSpPr>
          <p:cNvPr id="9" name="Shape 5"/>
          <p:cNvSpPr/>
          <p:nvPr/>
        </p:nvSpPr>
        <p:spPr>
          <a:xfrm>
            <a:off x="1352193" y="3438525"/>
            <a:ext cx="225385" cy="1014174"/>
          </a:xfrm>
          <a:prstGeom prst="roundRect">
            <a:avLst>
              <a:gd name="adj" fmla="val 42002"/>
            </a:avLst>
          </a:prstGeom>
          <a:solidFill>
            <a:srgbClr val="E6E6E6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126808" y="3290649"/>
            <a:ext cx="676156" cy="676156"/>
          </a:xfrm>
          <a:prstGeom prst="roundRect">
            <a:avLst>
              <a:gd name="adj" fmla="val 67618"/>
            </a:avLst>
          </a:prstGeom>
          <a:solidFill>
            <a:srgbClr val="E6E6E6"/>
          </a:solidFill>
          <a:ln w="7620">
            <a:solidFill>
              <a:srgbClr val="CCCCCC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95876" y="3459718"/>
            <a:ext cx="338018" cy="33801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028349" y="3325892"/>
            <a:ext cx="2253853" cy="281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Online Certifications</a:t>
            </a:r>
            <a:endParaRPr lang="en-US" sz="1750" dirty="0"/>
          </a:p>
        </p:txBody>
      </p:sp>
      <p:sp>
        <p:nvSpPr>
          <p:cNvPr id="13" name="Text 8"/>
          <p:cNvSpPr/>
          <p:nvPr/>
        </p:nvSpPr>
        <p:spPr>
          <a:xfrm>
            <a:off x="2028349" y="3742730"/>
            <a:ext cx="6326862" cy="360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Microsoft AI, Google Cloud AI courses.</a:t>
            </a:r>
            <a:endParaRPr lang="en-US" sz="1750" dirty="0"/>
          </a:p>
        </p:txBody>
      </p:sp>
      <p:sp>
        <p:nvSpPr>
          <p:cNvPr id="14" name="Shape 9"/>
          <p:cNvSpPr/>
          <p:nvPr/>
        </p:nvSpPr>
        <p:spPr>
          <a:xfrm>
            <a:off x="1690330" y="5016222"/>
            <a:ext cx="225385" cy="1014174"/>
          </a:xfrm>
          <a:prstGeom prst="roundRect">
            <a:avLst>
              <a:gd name="adj" fmla="val 42002"/>
            </a:avLst>
          </a:prstGeom>
          <a:solidFill>
            <a:srgbClr val="E6E6E6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1464945" y="4868347"/>
            <a:ext cx="676156" cy="676156"/>
          </a:xfrm>
          <a:prstGeom prst="roundRect">
            <a:avLst>
              <a:gd name="adj" fmla="val 67618"/>
            </a:avLst>
          </a:prstGeom>
          <a:solidFill>
            <a:srgbClr val="E6E6E6"/>
          </a:solidFill>
          <a:ln w="7620">
            <a:solidFill>
              <a:srgbClr val="CCCCCC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634014" y="5037415"/>
            <a:ext cx="338018" cy="33801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2366486" y="4903589"/>
            <a:ext cx="2253853" cy="281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Hands-on Projects</a:t>
            </a:r>
            <a:endParaRPr lang="en-US" sz="1750" dirty="0"/>
          </a:p>
        </p:txBody>
      </p:sp>
      <p:sp>
        <p:nvSpPr>
          <p:cNvPr id="18" name="Text 12"/>
          <p:cNvSpPr/>
          <p:nvPr/>
        </p:nvSpPr>
        <p:spPr>
          <a:xfrm>
            <a:off x="2366486" y="5320427"/>
            <a:ext cx="5988725" cy="360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Model building, hackathons, internships.</a:t>
            </a:r>
            <a:endParaRPr lang="en-US" sz="1750" dirty="0"/>
          </a:p>
        </p:txBody>
      </p:sp>
      <p:sp>
        <p:nvSpPr>
          <p:cNvPr id="19" name="Shape 13"/>
          <p:cNvSpPr/>
          <p:nvPr/>
        </p:nvSpPr>
        <p:spPr>
          <a:xfrm>
            <a:off x="2028349" y="6593919"/>
            <a:ext cx="225385" cy="1014174"/>
          </a:xfrm>
          <a:prstGeom prst="roundRect">
            <a:avLst>
              <a:gd name="adj" fmla="val 42002"/>
            </a:avLst>
          </a:prstGeom>
          <a:solidFill>
            <a:srgbClr val="E6E6E6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1802963" y="6446044"/>
            <a:ext cx="676156" cy="676156"/>
          </a:xfrm>
          <a:prstGeom prst="roundRect">
            <a:avLst>
              <a:gd name="adj" fmla="val 67618"/>
            </a:avLst>
          </a:prstGeom>
          <a:solidFill>
            <a:srgbClr val="E6E6E6"/>
          </a:solidFill>
          <a:ln w="7620">
            <a:solidFill>
              <a:srgbClr val="CCCCCC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72032" y="6615113"/>
            <a:ext cx="338018" cy="33801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2704505" y="6481286"/>
            <a:ext cx="2253853" cy="281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Continuous Learning</a:t>
            </a:r>
            <a:endParaRPr lang="en-US" sz="1750" dirty="0"/>
          </a:p>
        </p:txBody>
      </p:sp>
      <p:sp>
        <p:nvSpPr>
          <p:cNvPr id="23" name="Text 16"/>
          <p:cNvSpPr/>
          <p:nvPr/>
        </p:nvSpPr>
        <p:spPr>
          <a:xfrm>
            <a:off x="2704505" y="6898124"/>
            <a:ext cx="5650706" cy="360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Stay updated on generative AI, LLMs, and emerging tools.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720209"/>
            <a:ext cx="6210538" cy="617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 Day in the Life of an ML Engineer</a:t>
            </a:r>
            <a:endParaRPr lang="en-US" sz="3850" dirty="0"/>
          </a:p>
        </p:txBody>
      </p:sp>
      <p:sp>
        <p:nvSpPr>
          <p:cNvPr id="4" name="Text 1"/>
          <p:cNvSpPr/>
          <p:nvPr/>
        </p:nvSpPr>
        <p:spPr>
          <a:xfrm>
            <a:off x="864037" y="1929765"/>
            <a:ext cx="3406854" cy="493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50"/>
              </a:lnSpc>
              <a:buNone/>
            </a:pPr>
            <a:r>
              <a:rPr lang="en-US" sz="24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Designing and Training Models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864037" y="2645688"/>
            <a:ext cx="3406854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Using large datasets to build sophisticated machine learning models.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864037" y="4053007"/>
            <a:ext cx="3406854" cy="493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50"/>
              </a:lnSpc>
              <a:buNone/>
            </a:pPr>
            <a:r>
              <a:rPr lang="en-US" sz="24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Experimentation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64037" y="4768929"/>
            <a:ext cx="3406854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Improving model accuracy and efficiency through rigorous testing.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64037" y="5781199"/>
            <a:ext cx="3406854" cy="493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50"/>
              </a:lnSpc>
              <a:buNone/>
            </a:pPr>
            <a:r>
              <a:rPr lang="en-US" sz="24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Collaboration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864037" y="6497122"/>
            <a:ext cx="3406854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Working with data scientists, software engineers, and domain experts.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4880729" y="1929765"/>
            <a:ext cx="3406854" cy="493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50"/>
              </a:lnSpc>
              <a:buNone/>
            </a:pPr>
            <a:r>
              <a:rPr lang="en-US" sz="24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Deployment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4880729" y="2645688"/>
            <a:ext cx="3406854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Implementing AI systems into production and monitoring performance.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4880729" y="4053007"/>
            <a:ext cx="3406854" cy="493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50"/>
              </a:lnSpc>
              <a:buNone/>
            </a:pPr>
            <a:r>
              <a:rPr lang="en-US" sz="24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Ethical Compliance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4880729" y="4768929"/>
            <a:ext cx="3406854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Ensuring ethical use and adherence to AI regulations.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6991" y="804148"/>
            <a:ext cx="7265313" cy="490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50"/>
              </a:lnSpc>
              <a:buNone/>
            </a:pPr>
            <a:r>
              <a:rPr lang="en-US" sz="30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Real-World Impact: ML Engineering Success Stories</a:t>
            </a:r>
            <a:endParaRPr lang="en-US" sz="3050" dirty="0"/>
          </a:p>
        </p:txBody>
      </p:sp>
      <p:sp>
        <p:nvSpPr>
          <p:cNvPr id="4" name="Shape 1"/>
          <p:cNvSpPr/>
          <p:nvPr/>
        </p:nvSpPr>
        <p:spPr>
          <a:xfrm>
            <a:off x="686991" y="1589365"/>
            <a:ext cx="7770019" cy="1311831"/>
          </a:xfrm>
          <a:prstGeom prst="roundRect">
            <a:avLst>
              <a:gd name="adj" fmla="val 6285"/>
            </a:avLst>
          </a:prstGeom>
          <a:solidFill>
            <a:srgbClr val="F7F7F7"/>
          </a:solidFill>
          <a:ln w="22860">
            <a:solidFill>
              <a:srgbClr val="CCCCCC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098" y="1494473"/>
            <a:ext cx="235506" cy="235506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6397" y="2760583"/>
            <a:ext cx="235506" cy="235506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004292" y="1906667"/>
            <a:ext cx="2418040" cy="245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Amazon's Recommendation Engine</a:t>
            </a:r>
            <a:endParaRPr lang="en-US" sz="1500" dirty="0"/>
          </a:p>
        </p:txBody>
      </p:sp>
      <p:sp>
        <p:nvSpPr>
          <p:cNvPr id="8" name="Text 3"/>
          <p:cNvSpPr/>
          <p:nvPr/>
        </p:nvSpPr>
        <p:spPr>
          <a:xfrm>
            <a:off x="1004292" y="2269808"/>
            <a:ext cx="7135416" cy="31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Boosting sales through personalised product suggestions.</a:t>
            </a:r>
            <a:endParaRPr lang="en-US" sz="1500" dirty="0"/>
          </a:p>
        </p:txBody>
      </p:sp>
      <p:sp>
        <p:nvSpPr>
          <p:cNvPr id="9" name="Shape 4"/>
          <p:cNvSpPr/>
          <p:nvPr/>
        </p:nvSpPr>
        <p:spPr>
          <a:xfrm>
            <a:off x="686991" y="3097411"/>
            <a:ext cx="7770019" cy="1311831"/>
          </a:xfrm>
          <a:prstGeom prst="roundRect">
            <a:avLst>
              <a:gd name="adj" fmla="val 6285"/>
            </a:avLst>
          </a:prstGeom>
          <a:solidFill>
            <a:srgbClr val="F7F7F7"/>
          </a:solidFill>
          <a:ln w="22860">
            <a:solidFill>
              <a:srgbClr val="CCCCCC"/>
            </a:solidFill>
            <a:prstDash val="solid"/>
          </a:ln>
        </p:spPr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098" y="3002518"/>
            <a:ext cx="235506" cy="235506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6397" y="4268629"/>
            <a:ext cx="235506" cy="235506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004292" y="3414713"/>
            <a:ext cx="1963103" cy="245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AI in Healthcare</a:t>
            </a:r>
            <a:endParaRPr lang="en-US" sz="1500" dirty="0"/>
          </a:p>
        </p:txBody>
      </p:sp>
      <p:sp>
        <p:nvSpPr>
          <p:cNvPr id="13" name="Text 6"/>
          <p:cNvSpPr/>
          <p:nvPr/>
        </p:nvSpPr>
        <p:spPr>
          <a:xfrm>
            <a:off x="1004292" y="3777853"/>
            <a:ext cx="7135416" cy="31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Improving early disease detection with AI-powered diagnostics.</a:t>
            </a:r>
            <a:endParaRPr lang="en-US" sz="1500" dirty="0"/>
          </a:p>
        </p:txBody>
      </p:sp>
      <p:sp>
        <p:nvSpPr>
          <p:cNvPr id="14" name="Shape 7"/>
          <p:cNvSpPr/>
          <p:nvPr/>
        </p:nvSpPr>
        <p:spPr>
          <a:xfrm>
            <a:off x="686991" y="4605457"/>
            <a:ext cx="7770019" cy="1311831"/>
          </a:xfrm>
          <a:prstGeom prst="roundRect">
            <a:avLst>
              <a:gd name="adj" fmla="val 6285"/>
            </a:avLst>
          </a:prstGeom>
          <a:solidFill>
            <a:srgbClr val="F7F7F7"/>
          </a:solidFill>
          <a:ln w="22860">
            <a:solidFill>
              <a:srgbClr val="CCCCCC"/>
            </a:solidFill>
            <a:prstDash val="solid"/>
          </a:ln>
        </p:spPr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2098" y="4510564"/>
            <a:ext cx="235506" cy="235506"/>
          </a:xfrm>
          <a:prstGeom prst="rect">
            <a:avLst/>
          </a:prstGeom>
        </p:spPr>
      </p:pic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6397" y="5776674"/>
            <a:ext cx="235506" cy="235506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1004292" y="4922758"/>
            <a:ext cx="1963103" cy="245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Autonomous Vehicles</a:t>
            </a:r>
            <a:endParaRPr lang="en-US" sz="1500" dirty="0"/>
          </a:p>
        </p:txBody>
      </p:sp>
      <p:sp>
        <p:nvSpPr>
          <p:cNvPr id="18" name="Text 9"/>
          <p:cNvSpPr/>
          <p:nvPr/>
        </p:nvSpPr>
        <p:spPr>
          <a:xfrm>
            <a:off x="1004292" y="5285899"/>
            <a:ext cx="7135416" cy="31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Reducing accidents and optimising traffic flow.</a:t>
            </a:r>
            <a:endParaRPr lang="en-US" sz="1500" dirty="0"/>
          </a:p>
        </p:txBody>
      </p:sp>
      <p:sp>
        <p:nvSpPr>
          <p:cNvPr id="19" name="Shape 10"/>
          <p:cNvSpPr/>
          <p:nvPr/>
        </p:nvSpPr>
        <p:spPr>
          <a:xfrm>
            <a:off x="686991" y="6113502"/>
            <a:ext cx="7770019" cy="1311831"/>
          </a:xfrm>
          <a:prstGeom prst="roundRect">
            <a:avLst>
              <a:gd name="adj" fmla="val 6285"/>
            </a:avLst>
          </a:prstGeom>
          <a:solidFill>
            <a:srgbClr val="F7F7F7"/>
          </a:solidFill>
          <a:ln w="22860">
            <a:solidFill>
              <a:srgbClr val="CCCCCC"/>
            </a:solidFill>
            <a:prstDash val="solid"/>
          </a:ln>
        </p:spPr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2098" y="6018609"/>
            <a:ext cx="235506" cy="235506"/>
          </a:xfrm>
          <a:prstGeom prst="rect">
            <a:avLst/>
          </a:prstGeom>
        </p:spPr>
      </p:pic>
      <p:pic>
        <p:nvPicPr>
          <p:cNvPr id="2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16397" y="7284720"/>
            <a:ext cx="235506" cy="235506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1004292" y="6430804"/>
            <a:ext cx="1963103" cy="245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Fraud Detection Systems</a:t>
            </a:r>
            <a:endParaRPr lang="en-US" sz="1500" dirty="0"/>
          </a:p>
        </p:txBody>
      </p:sp>
      <p:sp>
        <p:nvSpPr>
          <p:cNvPr id="23" name="Text 12"/>
          <p:cNvSpPr/>
          <p:nvPr/>
        </p:nvSpPr>
        <p:spPr>
          <a:xfrm>
            <a:off x="1004292" y="6793944"/>
            <a:ext cx="7135416" cy="31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Saving billions in financial services annually.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1944648"/>
            <a:ext cx="6815852" cy="617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Future Trends Shaping ML Engineering</a:t>
            </a:r>
            <a:endParaRPr lang="en-US" sz="38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437" y="2932033"/>
            <a:ext cx="7415927" cy="33528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981388" y="5561418"/>
            <a:ext cx="1323355" cy="16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Ethics &amp; Compliance</a:t>
            </a:r>
            <a:endParaRPr lang="en-US" sz="1050" dirty="0"/>
          </a:p>
        </p:txBody>
      </p:sp>
      <p:sp>
        <p:nvSpPr>
          <p:cNvPr id="6" name="Text 2"/>
          <p:cNvSpPr/>
          <p:nvPr/>
        </p:nvSpPr>
        <p:spPr>
          <a:xfrm>
            <a:off x="6981388" y="5785653"/>
            <a:ext cx="2521727" cy="165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Responsible models and rules</a:t>
            </a:r>
            <a:endParaRPr lang="en-US" sz="10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73354" y="5561418"/>
            <a:ext cx="134748" cy="13474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981388" y="4760053"/>
            <a:ext cx="1323355" cy="16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Domain AI</a:t>
            </a:r>
            <a:endParaRPr lang="en-US" sz="1050" dirty="0"/>
          </a:p>
        </p:txBody>
      </p:sp>
      <p:sp>
        <p:nvSpPr>
          <p:cNvPr id="9" name="Text 4"/>
          <p:cNvSpPr/>
          <p:nvPr/>
        </p:nvSpPr>
        <p:spPr>
          <a:xfrm>
            <a:off x="6981388" y="4984288"/>
            <a:ext cx="2521727" cy="165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AI fused with domain expertise</a:t>
            </a:r>
            <a:endParaRPr lang="en-US" sz="10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73354" y="4760053"/>
            <a:ext cx="134748" cy="13474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981388" y="3958688"/>
            <a:ext cx="1323355" cy="165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Hybrid Work</a:t>
            </a:r>
            <a:endParaRPr lang="en-US" sz="1050" dirty="0"/>
          </a:p>
        </p:txBody>
      </p:sp>
      <p:sp>
        <p:nvSpPr>
          <p:cNvPr id="12" name="Text 6"/>
          <p:cNvSpPr/>
          <p:nvPr/>
        </p:nvSpPr>
        <p:spPr>
          <a:xfrm>
            <a:off x="6981388" y="4182923"/>
            <a:ext cx="2521727" cy="165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Distributed teams and pipelines</a:t>
            </a:r>
            <a:endParaRPr lang="en-US" sz="10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73354" y="3958688"/>
            <a:ext cx="134748" cy="13474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981388" y="3157323"/>
            <a:ext cx="1323355" cy="16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Generative AI</a:t>
            </a:r>
            <a:endParaRPr lang="en-US" sz="1050" dirty="0"/>
          </a:p>
        </p:txBody>
      </p:sp>
      <p:sp>
        <p:nvSpPr>
          <p:cNvPr id="15" name="Text 8"/>
          <p:cNvSpPr/>
          <p:nvPr/>
        </p:nvSpPr>
        <p:spPr>
          <a:xfrm>
            <a:off x="6981388" y="3381558"/>
            <a:ext cx="2521727" cy="16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Models create content at scale</a:t>
            </a:r>
            <a:endParaRPr lang="en-US" sz="105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73354" y="3157323"/>
            <a:ext cx="134748" cy="13474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862495"/>
            <a:ext cx="9474637" cy="617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Why I Choose to Become a Machine Learning Engineer</a:t>
            </a:r>
            <a:endParaRPr lang="en-US" sz="3850" dirty="0"/>
          </a:p>
        </p:txBody>
      </p:sp>
      <p:sp>
        <p:nvSpPr>
          <p:cNvPr id="3" name="Shape 1"/>
          <p:cNvSpPr/>
          <p:nvPr/>
        </p:nvSpPr>
        <p:spPr>
          <a:xfrm>
            <a:off x="864037" y="2973348"/>
            <a:ext cx="4136231" cy="1770936"/>
          </a:xfrm>
          <a:prstGeom prst="roundRect">
            <a:avLst>
              <a:gd name="adj" fmla="val 33459"/>
            </a:avLst>
          </a:prstGeom>
          <a:solidFill>
            <a:srgbClr val="E6E6E6"/>
          </a:solidFill>
          <a:ln w="1524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6093" y="3235404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Passion for Innovation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126093" y="3692128"/>
            <a:ext cx="3612118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Solving complex problems with AI.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247084" y="2973348"/>
            <a:ext cx="4136231" cy="1770936"/>
          </a:xfrm>
          <a:prstGeom prst="roundRect">
            <a:avLst>
              <a:gd name="adj" fmla="val 33459"/>
            </a:avLst>
          </a:prstGeom>
          <a:solidFill>
            <a:srgbClr val="E6E6E6"/>
          </a:solidFill>
          <a:ln w="1524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09141" y="3235404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Technological Forefront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509141" y="3692128"/>
            <a:ext cx="3612118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Working at the cutting edge of industry transformation.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9630132" y="2973348"/>
            <a:ext cx="4136231" cy="1770936"/>
          </a:xfrm>
          <a:prstGeom prst="roundRect">
            <a:avLst>
              <a:gd name="adj" fmla="val 33459"/>
            </a:avLst>
          </a:prstGeom>
          <a:solidFill>
            <a:srgbClr val="E6E6E6"/>
          </a:solidFill>
          <a:ln w="1524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92189" y="3235404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Rewarding Prospects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892189" y="3692128"/>
            <a:ext cx="3612118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High demand and career growth worldwide.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864037" y="4991100"/>
            <a:ext cx="6327696" cy="1375886"/>
          </a:xfrm>
          <a:prstGeom prst="roundRect">
            <a:avLst>
              <a:gd name="adj" fmla="val 43065"/>
            </a:avLst>
          </a:prstGeom>
          <a:solidFill>
            <a:srgbClr val="E6E6E6"/>
          </a:solidFill>
          <a:ln w="1524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26093" y="5253157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Ethical Commitment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126093" y="5709880"/>
            <a:ext cx="5803583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Developing AI for a better future.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438549" y="4991100"/>
            <a:ext cx="6327815" cy="1375886"/>
          </a:xfrm>
          <a:prstGeom prst="roundRect">
            <a:avLst>
              <a:gd name="adj" fmla="val 43065"/>
            </a:avLst>
          </a:prstGeom>
          <a:solidFill>
            <a:srgbClr val="E6E6E6"/>
          </a:solidFill>
          <a:ln w="1524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00605" y="5253157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Ready for Revolution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7700605" y="5709880"/>
            <a:ext cx="5803702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Learning, growing, and contributing to AI.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973217"/>
            <a:ext cx="4937760" cy="617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Key References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864037" y="2084070"/>
            <a:ext cx="1290232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PwC AI Jobs Barometer. [Electronic resource]. – Mode of access: </a:t>
            </a:r>
            <a:pPr algn="l" indent="0" marL="0">
              <a:lnSpc>
                <a:spcPts val="3100"/>
              </a:lnSpc>
              <a:buNone/>
            </a:pPr>
            <a:r>
              <a:rPr lang="en-US" sz="1900" u="sng" dirty="0">
                <a:solidFill>
                  <a:srgbClr val="666666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https://www.pwc.com/gx/en/services/ai/ai-jobs-barometer.html</a:t>
            </a:r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– Date of access: 16.12.2025.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4037" y="2960489"/>
            <a:ext cx="1290232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Font typeface="+mj-lt"/>
              <a:buAutoNum type="arabicPeriod" startAt="2"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McKinsey State of AI 2025. [Electronic resource]. – Mode of access: </a:t>
            </a:r>
            <a:pPr algn="l" indent="0" marL="0">
              <a:lnSpc>
                <a:spcPts val="3100"/>
              </a:lnSpc>
              <a:buNone/>
            </a:pPr>
            <a:r>
              <a:rPr lang="en-US" sz="1900" u="sng" dirty="0">
                <a:solidFill>
                  <a:srgbClr val="666666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https://www.mckinsey.com/capabilities/quantumblack/our-insights/the-state-of-ai</a:t>
            </a:r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– Date of access: 16.12.2025.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64037" y="3836908"/>
            <a:ext cx="1290232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Font typeface="+mj-lt"/>
              <a:buAutoNum type="arabicPeriod" startAt="3"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Machine Learning Specialization (Stanford/Coursera). [Electronic resource]. – Mode of access: </a:t>
            </a:r>
            <a:pPr algn="l" indent="0" marL="0">
              <a:lnSpc>
                <a:spcPts val="3100"/>
              </a:lnSpc>
              <a:buNone/>
            </a:pPr>
            <a:r>
              <a:rPr lang="en-US" sz="1900" u="sng" dirty="0">
                <a:solidFill>
                  <a:srgbClr val="666666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https://www.coursera.org/specializations/machine-learning-introduction</a:t>
            </a:r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– Date of access: 16.12.2025.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4037" y="4713327"/>
            <a:ext cx="1290232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Font typeface="+mj-lt"/>
              <a:buAutoNum type="arabicPeriod" startAt="4"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Udacity Machine Learning Courses. [Electronic resource]. – Mode of access: </a:t>
            </a:r>
            <a:pPr algn="l" indent="0" marL="0">
              <a:lnSpc>
                <a:spcPts val="3100"/>
              </a:lnSpc>
              <a:buNone/>
            </a:pPr>
            <a:r>
              <a:rPr lang="en-US" sz="1900" u="sng" dirty="0">
                <a:solidFill>
                  <a:srgbClr val="666666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https://www.udacity.com/course/intro-to-machine-learning--ud120</a:t>
            </a:r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– Date of access: 16.12.2025.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64037" y="5589746"/>
            <a:ext cx="1290232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Font typeface="+mj-lt"/>
              <a:buAutoNum type="arabicPeriod" startAt="5"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Google AI Blog. [Electronic resource]. – Mode of access: </a:t>
            </a:r>
            <a:pPr algn="l" indent="0" marL="0">
              <a:lnSpc>
                <a:spcPts val="3100"/>
              </a:lnSpc>
              <a:buNone/>
            </a:pPr>
            <a:r>
              <a:rPr lang="en-US" sz="1900" u="sng" dirty="0">
                <a:solidFill>
                  <a:srgbClr val="666666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https://blog.google/outreach-initiatives/public-policy/ai-has-transformed-the-tech-industry/</a:t>
            </a:r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– Date of access: 16.12.2025.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4037" y="6466165"/>
            <a:ext cx="1290232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Font typeface="+mj-lt"/>
              <a:buAutoNum type="arabicPeriod" startAt="6"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Meta, Google, Microsoft AI Spending (WIRED). [Electronic resource]. – Mode of access: </a:t>
            </a:r>
            <a:pPr algn="l" indent="0" marL="0">
              <a:lnSpc>
                <a:spcPts val="3100"/>
              </a:lnSpc>
              <a:buNone/>
            </a:pPr>
            <a:r>
              <a:rPr lang="en-US" sz="1900" u="sng" dirty="0">
                <a:solidFill>
                  <a:srgbClr val="666666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https://www.wired.com/story/microsoft-google-meta-2025-earnings/</a:t>
            </a:r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– Date of access: 16.12.2025.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2025-12-18T18:12:24Z</dcterms:created>
  <dcterms:modified xsi:type="dcterms:W3CDTF">2025-12-18T18:12:24Z</dcterms:modified>
</cp:coreProperties>
</file>