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Patrick Hand"/>
      <p:regular r:id="rId22"/>
    </p:embeddedFont>
    <p:embeddedFont>
      <p:font typeface="Patrick Hand"/>
      <p:regular r:id="rId23"/>
    </p:embeddedFont>
    <p:embeddedFont>
      <p:font typeface="Patrick Hand"/>
      <p:regular r:id="rId24"/>
    </p:embeddedFont>
    <p:embeddedFont>
      <p:font typeface="Patrick Hand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3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3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3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3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8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2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sv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sv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slideLayout" Target="../slideLayouts/slideLayout13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europa.eu" TargetMode="External"/><Relationship Id="rId2" Type="http://schemas.openxmlformats.org/officeDocument/2006/relationships/hyperlink" Target="https://www.europarl.europa.eu" TargetMode="External"/><Relationship Id="rId3" Type="http://schemas.openxmlformats.org/officeDocument/2006/relationships/hyperlink" Target="https://ec.europa.eu" TargetMode="External"/><Relationship Id="rId4" Type="http://schemas.openxmlformats.org/officeDocument/2006/relationships/hyperlink" Target="https://ec.europa.eu/eurostat" TargetMode="External"/><Relationship Id="rId5" Type="http://schemas.openxmlformats.org/officeDocument/2006/relationships/hyperlink" Target="https://www.consilium.europa.eu" TargetMode="External"/><Relationship Id="rId6" Type="http://schemas.openxmlformats.org/officeDocument/2006/relationships/slideLayout" Target="../slideLayouts/slideLayout16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2608898"/>
            <a:ext cx="7415927" cy="1851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Единая Европа: трудности формирования, успехи и перспективы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437" y="4830485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Авторы: Юрченко Егор, Рыжов Павел, Крохов Иван, Лепеев Вадим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788551"/>
            <a:ext cx="6880265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Истоки идеи единой Европы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350437" y="2146221"/>
            <a:ext cx="3584496" cy="2536388"/>
          </a:xfrm>
          <a:prstGeom prst="roundRect">
            <a:avLst>
              <a:gd name="adj" fmla="val 5768"/>
            </a:avLst>
          </a:prstGeom>
          <a:solidFill>
            <a:srgbClr val="F7F7F7"/>
          </a:solidFill>
          <a:ln/>
        </p:spPr>
      </p:sp>
      <p:sp>
        <p:nvSpPr>
          <p:cNvPr id="5" name="Shape 2"/>
          <p:cNvSpPr/>
          <p:nvPr/>
        </p:nvSpPr>
        <p:spPr>
          <a:xfrm>
            <a:off x="6350437" y="2115741"/>
            <a:ext cx="3584496" cy="121920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0" y="1775936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CCCC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571" y="1998107"/>
            <a:ext cx="296228" cy="2962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7733" y="276344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Ранние концепции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627733" y="3220164"/>
            <a:ext cx="3029903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XVIII–XX вв.: первые идеи «Соединённых Штатов Европы» и интеграции.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10181749" y="2146221"/>
            <a:ext cx="3584615" cy="2536388"/>
          </a:xfrm>
          <a:prstGeom prst="roundRect">
            <a:avLst>
              <a:gd name="adj" fmla="val 5768"/>
            </a:avLst>
          </a:prstGeom>
          <a:solidFill>
            <a:srgbClr val="F7F7F7"/>
          </a:solidFill>
          <a:ln/>
        </p:spPr>
      </p:sp>
      <p:sp>
        <p:nvSpPr>
          <p:cNvPr id="11" name="Shape 7"/>
          <p:cNvSpPr/>
          <p:nvPr/>
        </p:nvSpPr>
        <p:spPr>
          <a:xfrm>
            <a:off x="10181749" y="2115741"/>
            <a:ext cx="3584615" cy="121920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/>
        </p:spPr>
      </p:sp>
      <p:sp>
        <p:nvSpPr>
          <p:cNvPr id="12" name="Shape 8"/>
          <p:cNvSpPr/>
          <p:nvPr/>
        </p:nvSpPr>
        <p:spPr>
          <a:xfrm>
            <a:off x="11603712" y="1775936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CCCCC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25883" y="1998107"/>
            <a:ext cx="296228" cy="2962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459045" y="2763441"/>
            <a:ext cx="299870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Проект Аристида Бриана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0459045" y="3220164"/>
            <a:ext cx="303002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1920-е годы: проект Европейского федеративного союза.</a:t>
            </a:r>
            <a:endParaRPr lang="en-US" sz="1900" dirty="0"/>
          </a:p>
        </p:txBody>
      </p:sp>
      <p:sp>
        <p:nvSpPr>
          <p:cNvPr id="16" name="Shape 11"/>
          <p:cNvSpPr/>
          <p:nvPr/>
        </p:nvSpPr>
        <p:spPr>
          <a:xfrm>
            <a:off x="6350437" y="5299710"/>
            <a:ext cx="7415927" cy="2141339"/>
          </a:xfrm>
          <a:prstGeom prst="roundRect">
            <a:avLst>
              <a:gd name="adj" fmla="val 6832"/>
            </a:avLst>
          </a:prstGeom>
          <a:solidFill>
            <a:srgbClr val="F7F7F7"/>
          </a:solidFill>
          <a:ln/>
        </p:spPr>
      </p:sp>
      <p:sp>
        <p:nvSpPr>
          <p:cNvPr id="17" name="Shape 12"/>
          <p:cNvSpPr/>
          <p:nvPr/>
        </p:nvSpPr>
        <p:spPr>
          <a:xfrm>
            <a:off x="6350437" y="5269230"/>
            <a:ext cx="7415927" cy="121920"/>
          </a:xfrm>
          <a:prstGeom prst="roundRect">
            <a:avLst>
              <a:gd name="adj" fmla="val 85050"/>
            </a:avLst>
          </a:prstGeom>
          <a:solidFill>
            <a:srgbClr val="CCCCCC"/>
          </a:solidFill>
          <a:ln/>
        </p:spPr>
      </p:sp>
      <p:sp>
        <p:nvSpPr>
          <p:cNvPr id="18" name="Shape 13"/>
          <p:cNvSpPr/>
          <p:nvPr/>
        </p:nvSpPr>
        <p:spPr>
          <a:xfrm>
            <a:off x="9688116" y="4929426"/>
            <a:ext cx="740569" cy="740569"/>
          </a:xfrm>
          <a:prstGeom prst="roundRect">
            <a:avLst>
              <a:gd name="adj" fmla="val 123473"/>
            </a:avLst>
          </a:prstGeom>
          <a:solidFill>
            <a:srgbClr val="CCCCC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10286" y="5151596"/>
            <a:ext cx="296228" cy="2962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27733" y="5916930"/>
            <a:ext cx="367403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Послевоенная необходимость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6627733" y="6373654"/>
            <a:ext cx="686133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После Второй мировой войны: мир, сотрудничество и восстановление.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016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4979" y="2930962"/>
            <a:ext cx="8509992" cy="480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Рождение Европейского Союза: первые шаги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784979" y="5437942"/>
            <a:ext cx="13060323" cy="22860"/>
          </a:xfrm>
          <a:prstGeom prst="roundRect">
            <a:avLst>
              <a:gd name="adj" fmla="val 353001"/>
            </a:avLst>
          </a:prstGeom>
          <a:solidFill>
            <a:srgbClr val="CCCCCC"/>
          </a:solidFill>
          <a:ln/>
        </p:spPr>
      </p:sp>
      <p:sp>
        <p:nvSpPr>
          <p:cNvPr id="5" name="Shape 2"/>
          <p:cNvSpPr/>
          <p:nvPr/>
        </p:nvSpPr>
        <p:spPr>
          <a:xfrm>
            <a:off x="3978593" y="4861560"/>
            <a:ext cx="22860" cy="576382"/>
          </a:xfrm>
          <a:prstGeom prst="roundRect">
            <a:avLst>
              <a:gd name="adj" fmla="val 353001"/>
            </a:avLst>
          </a:prstGeom>
          <a:solidFill>
            <a:srgbClr val="CCCCCC"/>
          </a:solidFill>
          <a:ln/>
        </p:spPr>
      </p:sp>
      <p:sp>
        <p:nvSpPr>
          <p:cNvPr id="6" name="Shape 3"/>
          <p:cNvSpPr/>
          <p:nvPr/>
        </p:nvSpPr>
        <p:spPr>
          <a:xfrm>
            <a:off x="3773924" y="5221843"/>
            <a:ext cx="432197" cy="432197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74770" y="5293876"/>
            <a:ext cx="2305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029307" y="3699272"/>
            <a:ext cx="1921312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1951: Уголь и Сталь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77027" y="4054673"/>
            <a:ext cx="6025991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Европейское объединение угля и стали (Montanunion) — начало интеграции.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03651" y="5437942"/>
            <a:ext cx="22860" cy="576382"/>
          </a:xfrm>
          <a:prstGeom prst="roundRect">
            <a:avLst>
              <a:gd name="adj" fmla="val 353001"/>
            </a:avLst>
          </a:prstGeom>
          <a:solidFill>
            <a:srgbClr val="CCCCCC"/>
          </a:solidFill>
          <a:ln/>
        </p:spPr>
      </p:sp>
      <p:sp>
        <p:nvSpPr>
          <p:cNvPr id="11" name="Shape 8"/>
          <p:cNvSpPr/>
          <p:nvPr/>
        </p:nvSpPr>
        <p:spPr>
          <a:xfrm>
            <a:off x="7098982" y="5221843"/>
            <a:ext cx="432197" cy="432197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99828" y="5293876"/>
            <a:ext cx="2305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38994" y="6206371"/>
            <a:ext cx="2152174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1958: Римские договоры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302085" y="6561772"/>
            <a:ext cx="6025991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Создание общего рынка и четырёх свобод (товаров, услуг, капитала, передвижения).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628828" y="4861560"/>
            <a:ext cx="22860" cy="576382"/>
          </a:xfrm>
          <a:prstGeom prst="roundRect">
            <a:avLst>
              <a:gd name="adj" fmla="val 353001"/>
            </a:avLst>
          </a:prstGeom>
          <a:solidFill>
            <a:srgbClr val="CCCCCC"/>
          </a:solidFill>
          <a:ln/>
        </p:spPr>
      </p:sp>
      <p:sp>
        <p:nvSpPr>
          <p:cNvPr id="16" name="Shape 13"/>
          <p:cNvSpPr/>
          <p:nvPr/>
        </p:nvSpPr>
        <p:spPr>
          <a:xfrm>
            <a:off x="10424160" y="5221843"/>
            <a:ext cx="432197" cy="432197"/>
          </a:xfrm>
          <a:prstGeom prst="roundRect">
            <a:avLst>
              <a:gd name="adj" fmla="val 1867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25006" y="5293876"/>
            <a:ext cx="230505" cy="288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405699" y="3699272"/>
            <a:ext cx="2469118" cy="240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Постепенное расширение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627263" y="4054673"/>
            <a:ext cx="6025991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От 6 до 27 стран-членов, растущее единство.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84979" y="7392710"/>
            <a:ext cx="13060323" cy="307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Путь от первых соглашений до современного ЕС.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15083"/>
            <a:ext cx="6551652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Основные компетенции ЕС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4037" y="2725936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3651766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Таможенный союз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7682" y="2725936"/>
            <a:ext cx="617220" cy="6172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67682" y="3651766"/>
            <a:ext cx="4095036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Устанавливает правила конкуренции на внутреннем рынке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1328" y="2725936"/>
            <a:ext cx="617220" cy="6172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71328" y="3651766"/>
            <a:ext cx="40950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Денежно-кредитная политика стран еврозоны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037" y="5071348"/>
            <a:ext cx="617220" cy="6172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64037" y="5997178"/>
            <a:ext cx="317123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Общая торговая политика</a:t>
            </a:r>
            <a:endParaRPr lang="en-US" sz="19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7682" y="5071348"/>
            <a:ext cx="617220" cy="6172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267682" y="5997178"/>
            <a:ext cx="409503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Сохранение морских биоресурсов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03434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Структура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1914287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Традиционное для государств разделение на законодательные, исполнительные и судебные органы для ЕС нехарактерно. В ЕС функции распределены между различными институтами.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4037" y="2982039"/>
            <a:ext cx="617220" cy="6172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4037" y="390786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Совет ЕС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4364593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Законодательная и исполнительная функции.</a:t>
            </a:r>
            <a:endParaRPr lang="en-US" sz="1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9505" y="2982039"/>
            <a:ext cx="617220" cy="6172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9505" y="3907869"/>
            <a:ext cx="274724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Европейская комиссия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469505" y="4364593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Исполнительный орган ЕС.</a:t>
            </a:r>
            <a:endParaRPr lang="en-US" sz="1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037" y="5253395"/>
            <a:ext cx="617220" cy="6172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4037" y="617922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Европарламент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864037" y="6635948"/>
            <a:ext cx="629685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Законодательная власть и демократический надзор.</a:t>
            </a:r>
            <a:endParaRPr lang="en-US" sz="1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9505" y="5253395"/>
            <a:ext cx="617220" cy="6172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9505" y="6179225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Суд ЕС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7469505" y="6635948"/>
            <a:ext cx="6296858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Судебный орган, толкование права ЕС.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744736"/>
            <a:ext cx="493776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Экономика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4037" y="1855589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27814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Еврозона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3238143"/>
            <a:ext cx="40950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20 государств используют единую валюту.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7682" y="1855589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67682" y="2781419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Экспорт и импорт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5267682" y="3238143"/>
            <a:ext cx="40950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Крупнейший на мировой арене экспортер и импортер товаров и услуг.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1328" y="1855589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1328" y="2781419"/>
            <a:ext cx="279927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Суммарное ВВП (2010 г.)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9671328" y="3238143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14,7 трлн $.</a:t>
            </a:r>
            <a:endParaRPr lang="en-US" sz="1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037" y="4917043"/>
            <a:ext cx="617220" cy="617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4037" y="5842873"/>
            <a:ext cx="28507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ВВП на душу населения</a:t>
            </a:r>
            <a:endParaRPr lang="en-US" sz="1900" dirty="0"/>
          </a:p>
        </p:txBody>
      </p:sp>
      <p:sp>
        <p:nvSpPr>
          <p:cNvPr id="14" name="Text 8"/>
          <p:cNvSpPr/>
          <p:nvPr/>
        </p:nvSpPr>
        <p:spPr>
          <a:xfrm>
            <a:off x="864037" y="6299597"/>
            <a:ext cx="4095036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7 - 78 тыс. $.</a:t>
            </a:r>
            <a:endParaRPr lang="en-US" sz="1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7682" y="4917043"/>
            <a:ext cx="617220" cy="6172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67682" y="5842873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Крупные компании</a:t>
            </a:r>
            <a:endParaRPr lang="en-US" sz="1900" dirty="0"/>
          </a:p>
        </p:txBody>
      </p:sp>
      <p:sp>
        <p:nvSpPr>
          <p:cNvPr id="17" name="Text 10"/>
          <p:cNvSpPr/>
          <p:nvPr/>
        </p:nvSpPr>
        <p:spPr>
          <a:xfrm>
            <a:off x="5267682" y="6299597"/>
            <a:ext cx="40950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161 из 500 крупнейших компаний мира (по Fortune Global 500 в 2010 г.) зарегистрированы в ЕС.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6532" y="649367"/>
            <a:ext cx="4723448" cy="590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Внутренний рынок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6532" y="1712000"/>
            <a:ext cx="590431" cy="59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6532" y="2597587"/>
            <a:ext cx="6341031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Отсутствие торговых пошлин, их наличие по отношению к третьим странам</a:t>
            </a:r>
            <a:endParaRPr lang="en-US" sz="1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2718" y="1712000"/>
            <a:ext cx="590431" cy="5904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62718" y="2597587"/>
            <a:ext cx="6341150" cy="377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Свобода движения товаров и лиц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6532" y="3825716"/>
            <a:ext cx="590431" cy="59043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6532" y="4711303"/>
            <a:ext cx="6341031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Свобода движения услуг и свобода движения капитала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2718" y="3825716"/>
            <a:ext cx="590431" cy="59043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462718" y="4711303"/>
            <a:ext cx="6341150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Беспрепятственные переводы, покупка недвижимости и акций</a:t>
            </a:r>
            <a:endParaRPr lang="en-US" sz="1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6532" y="5939433"/>
            <a:ext cx="590431" cy="59043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6532" y="6825020"/>
            <a:ext cx="6341031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Взаимное признание профессиональных квалификаций</a:t>
            </a:r>
            <a:endParaRPr lang="en-US" sz="1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62718" y="5939433"/>
            <a:ext cx="590431" cy="59043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7462718" y="6825020"/>
            <a:ext cx="6341150" cy="755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Беспрепятственное перемещение между странами союза в целях проживания, работы и учёбы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3497699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Свобода передвижения — основа единой Европы</a:t>
            </a:r>
            <a:endParaRPr lang="en-US" sz="3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5103" y="649367"/>
            <a:ext cx="7518559" cy="589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Трудности и вызовы интеграции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825103" y="1710214"/>
            <a:ext cx="1622465" cy="1284803"/>
          </a:xfrm>
          <a:prstGeom prst="roundRect">
            <a:avLst>
              <a:gd name="adj" fmla="val 770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70541" y="2145387"/>
            <a:ext cx="33147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683312" y="1945958"/>
            <a:ext cx="29266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Национальные интересы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2683312" y="2382083"/>
            <a:ext cx="7952303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Сопротивление углублению интеграции и сохранение суверенитета.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2565440" y="2979777"/>
            <a:ext cx="11121985" cy="15240"/>
          </a:xfrm>
          <a:prstGeom prst="roundRect">
            <a:avLst>
              <a:gd name="adj" fmla="val 649716"/>
            </a:avLst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825103" y="3112889"/>
            <a:ext cx="3245048" cy="1284803"/>
          </a:xfrm>
          <a:prstGeom prst="roundRect">
            <a:avLst>
              <a:gd name="adj" fmla="val 770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1833" y="3548063"/>
            <a:ext cx="33147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305895" y="3348633"/>
            <a:ext cx="284487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Экономические кризисы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305895" y="3784759"/>
            <a:ext cx="4865132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Кризис еврозоны, государственные долги.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188023" y="4382453"/>
            <a:ext cx="9499402" cy="15240"/>
          </a:xfrm>
          <a:prstGeom prst="roundRect">
            <a:avLst>
              <a:gd name="adj" fmla="val 649716"/>
            </a:avLst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825103" y="4515564"/>
            <a:ext cx="4867513" cy="1284803"/>
          </a:xfrm>
          <a:prstGeom prst="roundRect">
            <a:avLst>
              <a:gd name="adj" fmla="val 7707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93125" y="4950738"/>
            <a:ext cx="33147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928360" y="4751308"/>
            <a:ext cx="314527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Политические разногласия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5928360" y="5187434"/>
            <a:ext cx="5523786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Роль крупных стран, позиция малых государств.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5810488" y="5785128"/>
            <a:ext cx="7876937" cy="15240"/>
          </a:xfrm>
          <a:prstGeom prst="roundRect">
            <a:avLst>
              <a:gd name="adj" fmla="val 649716"/>
            </a:avLst>
          </a:prstGeom>
          <a:solidFill>
            <a:srgbClr val="CCCCC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5103" y="5918240"/>
            <a:ext cx="6490097" cy="1661993"/>
          </a:xfrm>
          <a:prstGeom prst="roundRect">
            <a:avLst>
              <a:gd name="adj" fmla="val 5958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17" y="6542008"/>
            <a:ext cx="33147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15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50944" y="6153983"/>
            <a:ext cx="2561034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Современные вызовы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7550944" y="6590109"/>
            <a:ext cx="6018609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Миграционный кризис, пандемия, геополитическая напряжённость.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574" y="657939"/>
            <a:ext cx="6839783" cy="557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Успехи единой Европы сегодня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780574" y="1549956"/>
            <a:ext cx="892135" cy="1338143"/>
          </a:xfrm>
          <a:prstGeom prst="roundRect">
            <a:avLst>
              <a:gd name="adj" fmla="val 36001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9418" y="2009894"/>
            <a:ext cx="334447" cy="418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895713" y="1772960"/>
            <a:ext cx="2963823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Крупнейший общий рынок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895713" y="2185392"/>
            <a:ext cx="6467713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ВВП около 15% мирового.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80574" y="3111103"/>
            <a:ext cx="892135" cy="1338143"/>
          </a:xfrm>
          <a:prstGeom prst="roundRect">
            <a:avLst>
              <a:gd name="adj" fmla="val 36001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9418" y="3571042"/>
            <a:ext cx="334447" cy="418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895713" y="3334107"/>
            <a:ext cx="223027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Еврозона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895713" y="3746540"/>
            <a:ext cx="6467713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20 стран, 340 млн человек, единая валюта.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0574" y="4672251"/>
            <a:ext cx="892135" cy="1338143"/>
          </a:xfrm>
          <a:prstGeom prst="roundRect">
            <a:avLst>
              <a:gd name="adj" fmla="val 36001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9418" y="5132189"/>
            <a:ext cx="334447" cy="418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895713" y="4895255"/>
            <a:ext cx="2230279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Шенгенская зона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895713" y="5307687"/>
            <a:ext cx="6467713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27 стран, отмена пограничного контроля.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80574" y="6233398"/>
            <a:ext cx="892135" cy="1338143"/>
          </a:xfrm>
          <a:prstGeom prst="roundRect">
            <a:avLst>
              <a:gd name="adj" fmla="val 360010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9418" y="6693337"/>
            <a:ext cx="334447" cy="4181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1895713" y="6456402"/>
            <a:ext cx="3528536" cy="278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Энергетическая трансформация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1895713" y="6868835"/>
            <a:ext cx="6467713" cy="356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План REPowerEU, переход к зелёной энергетике.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154" y="667107"/>
            <a:ext cx="9813608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Европейский Союз как глобальный игрок</a:t>
            </a:r>
            <a:endParaRPr lang="en-US" sz="3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0118" y="1917978"/>
            <a:ext cx="363855" cy="3638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7467" y="1910477"/>
            <a:ext cx="3716893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Мощная политическая система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637467" y="2456259"/>
            <a:ext cx="6734056" cy="388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Европейская комиссия, Совет, Европарламент.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118" y="3337084"/>
            <a:ext cx="363855" cy="3638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37467" y="3329583"/>
            <a:ext cx="377737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Общая безопасность и оборона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637467" y="3875365"/>
            <a:ext cx="6734056" cy="388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Миссии ОПБО с 2003 года.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118" y="4756190"/>
            <a:ext cx="363855" cy="3638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37467" y="4748689"/>
            <a:ext cx="296334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Лидерство в инновациях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637467" y="5294471"/>
            <a:ext cx="6734056" cy="77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Борьба с изменением климата, цифровая трансформация.</a:t>
            </a:r>
            <a:endParaRPr lang="en-US" sz="1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118" y="6563439"/>
            <a:ext cx="363855" cy="3638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37467" y="6555938"/>
            <a:ext cx="2426137" cy="30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Поддержка реформ</a:t>
            </a:r>
            <a:endParaRPr lang="en-US" sz="1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1121" y="1910477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01472"/>
            <a:ext cx="9436537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Перспективы развития единой Европы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1797368" y="2825234"/>
            <a:ext cx="288964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Углубление интеграции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281958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Здравоохранение, цифровая экономика, экология.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7299" y="2412325"/>
            <a:ext cx="4515803" cy="451580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1611" y="3192423"/>
            <a:ext cx="369332" cy="3693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3386" y="2825234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Расширение ЕС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943386" y="3281958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Переговоры с кандидатами, например, с Турцией.</a:t>
            </a:r>
            <a:endParaRPr lang="en-US" sz="1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99" y="2412325"/>
            <a:ext cx="4515803" cy="451580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3553" y="3576638"/>
            <a:ext cx="369332" cy="3693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3386" y="5268278"/>
            <a:ext cx="3265408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Стратегическая автономия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9943386" y="5725001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Усиление энергетической независимости.</a:t>
            </a:r>
            <a:endParaRPr lang="en-US" sz="19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7299" y="2412325"/>
            <a:ext cx="4515803" cy="4515803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39338" y="5778579"/>
            <a:ext cx="369332" cy="36933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471613" y="5268278"/>
            <a:ext cx="321540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Сохранение солидарности</a:t>
            </a:r>
            <a:endParaRPr lang="en-US" sz="1900" dirty="0"/>
          </a:p>
        </p:txBody>
      </p:sp>
      <p:sp>
        <p:nvSpPr>
          <p:cNvPr id="16" name="Text 8"/>
          <p:cNvSpPr/>
          <p:nvPr/>
        </p:nvSpPr>
        <p:spPr>
          <a:xfrm>
            <a:off x="864037" y="5725001"/>
            <a:ext cx="382297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Преодоление внутренних разногласий.</a:t>
            </a:r>
            <a:endParaRPr lang="en-US" sz="19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57299" y="2412325"/>
            <a:ext cx="4515803" cy="4515803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37396" y="5394365"/>
            <a:ext cx="369332" cy="3693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3497699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Европа — союз возможностей и надежд</a:t>
            </a:r>
            <a:endParaRPr lang="en-US" sz="3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01203"/>
            <a:ext cx="11524536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Заключение: Европа — проект мира и прогресса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864037" y="3112056"/>
            <a:ext cx="12902327" cy="3116342"/>
          </a:xfrm>
          <a:prstGeom prst="roundRect">
            <a:avLst>
              <a:gd name="adj" fmla="val 3327"/>
            </a:avLst>
          </a:prstGeom>
          <a:solidFill>
            <a:srgbClr val="E6E6E6"/>
          </a:solidFill>
          <a:ln w="1524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277" y="3127296"/>
            <a:ext cx="6435923" cy="1740456"/>
          </a:xfrm>
          <a:prstGeom prst="roundRect">
            <a:avLst>
              <a:gd name="adj" fmla="val 5958"/>
            </a:avLst>
          </a:prstGeom>
          <a:solidFill>
            <a:srgbClr val="E6E6E6"/>
          </a:solidFill>
          <a:ln/>
        </p:spPr>
      </p:sp>
      <p:sp>
        <p:nvSpPr>
          <p:cNvPr id="5" name="Text 3"/>
          <p:cNvSpPr/>
          <p:nvPr/>
        </p:nvSpPr>
        <p:spPr>
          <a:xfrm>
            <a:off x="1126093" y="3374112"/>
            <a:ext cx="331124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Достижение компромиссов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126093" y="3830836"/>
            <a:ext cx="594229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Единая Европа — результат многолетних усилий.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0" y="3127296"/>
            <a:ext cx="6435923" cy="1740456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127296"/>
            <a:ext cx="30480" cy="1740456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7562017" y="3374112"/>
            <a:ext cx="27745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Пространство свободы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62017" y="3830836"/>
            <a:ext cx="594229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Безопасность и процветание для 450 млн человек.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79277" y="4867751"/>
            <a:ext cx="6435923" cy="1345406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2" name="Shape 10"/>
          <p:cNvSpPr/>
          <p:nvPr/>
        </p:nvSpPr>
        <p:spPr>
          <a:xfrm>
            <a:off x="879277" y="4867751"/>
            <a:ext cx="6435923" cy="30480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1126093" y="5114568"/>
            <a:ext cx="2717602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Потенциал и единство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26093" y="5571292"/>
            <a:ext cx="594229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Вызовы есть, но стремление к единству сильнее.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0" y="4867751"/>
            <a:ext cx="6435923" cy="1345406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0" y="4867751"/>
            <a:ext cx="30480" cy="1345406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0" y="4867751"/>
            <a:ext cx="6435923" cy="30480"/>
          </a:xfrm>
          <a:prstGeom prst="roundRect">
            <a:avLst>
              <a:gd name="adj" fmla="val 340200"/>
            </a:avLst>
          </a:prstGeom>
          <a:solidFill>
            <a:srgbClr val="CCCCCC"/>
          </a:solidFill>
          <a:ln/>
        </p:spPr>
      </p:sp>
      <p:sp>
        <p:nvSpPr>
          <p:cNvPr id="18" name="Text 16"/>
          <p:cNvSpPr/>
          <p:nvPr/>
        </p:nvSpPr>
        <p:spPr>
          <a:xfrm>
            <a:off x="7562017" y="5114568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Будущее Европы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62017" y="5571292"/>
            <a:ext cx="594229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Солидарность, инновации, совместное развитие.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272659"/>
            <a:ext cx="590169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Источники информации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2383512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Для более глубокого изучения темы Европейского Союза рекомендуем ознакомиться со следующими ресурсами: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3451265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Официальный сайт Европейского Союза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Комплексная информация о политике, новостях и институтах ЕС.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327684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Европейский парламент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Новости, документы и деятельность законодательного органа ЕС.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4809053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Европейская Комиссия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Информация о работе исполнительного органа ЕС, его инициативах и приоритетах.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4037" y="5685473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Евростат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Доступ к статистическим данным по различным аспектам жизни в Европейском Союзе.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4037" y="6166842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666666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Совет Европейского Союза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: Информация о встречах, решениях и роли государств-членов в управлении ЕС.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2025-12-18T18:11:58Z</dcterms:created>
  <dcterms:modified xsi:type="dcterms:W3CDTF">2025-12-18T18:11:58Z</dcterms:modified>
</cp:coreProperties>
</file>